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461" r:id="rId3"/>
    <p:sldId id="462" r:id="rId4"/>
    <p:sldId id="463" r:id="rId5"/>
    <p:sldId id="465" r:id="rId6"/>
    <p:sldId id="466" r:id="rId7"/>
  </p:sldIdLst>
  <p:sldSz cx="12192000" cy="6858000"/>
  <p:notesSz cx="6858000" cy="9144000"/>
  <p:custDataLst>
    <p:tags r:id="rId1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ren ren" initials="rr" lastIdx="2" clrIdx="0"/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900"/>
    <a:srgbClr val="FF5B00"/>
    <a:srgbClr val="FF6500"/>
    <a:srgbClr val="FF6000"/>
    <a:srgbClr val="009FE8"/>
    <a:srgbClr val="52AA46"/>
    <a:srgbClr val="23E10F"/>
    <a:srgbClr val="F095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6530"/>
    <p:restoredTop sz="94660"/>
  </p:normalViewPr>
  <p:slideViewPr>
    <p:cSldViewPr showGuides="1">
      <p:cViewPr varScale="1">
        <p:scale>
          <a:sx n="100" d="100"/>
          <a:sy n="100" d="100"/>
        </p:scale>
        <p:origin x="403" y="58"/>
      </p:cViewPr>
      <p:guideLst>
        <p:guide orient="horz" pos="2176"/>
        <p:guide pos="38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6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739CBA8-2A80-42CB-9A24-C1C9C17B4205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en-US" sz="1200" dirty="0"/>
            </a:fld>
            <a:endParaRPr lang="en-US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92" y="1122474"/>
            <a:ext cx="9144555" cy="2387836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92" y="3602394"/>
            <a:ext cx="9144555" cy="16559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6565" indent="0" algn="ctr">
              <a:buNone/>
              <a:defRPr sz="1995"/>
            </a:lvl2pPr>
            <a:lvl3pPr marL="915035" indent="0" algn="ctr">
              <a:buNone/>
              <a:defRPr sz="1800"/>
            </a:lvl3pPr>
            <a:lvl4pPr marL="1371600" indent="0" algn="ctr">
              <a:buNone/>
              <a:defRPr sz="1605"/>
            </a:lvl4pPr>
            <a:lvl5pPr marL="1828800" indent="0" algn="ctr">
              <a:buNone/>
              <a:defRPr sz="1605"/>
            </a:lvl5pPr>
            <a:lvl6pPr marL="2286000" indent="0" algn="ctr">
              <a:buNone/>
              <a:defRPr sz="1605"/>
            </a:lvl6pPr>
            <a:lvl7pPr marL="2743835" indent="0" algn="ctr">
              <a:buNone/>
              <a:defRPr sz="1605"/>
            </a:lvl7pPr>
            <a:lvl8pPr marL="3200400" indent="0" algn="ctr">
              <a:buNone/>
              <a:defRPr sz="1605"/>
            </a:lvl8pPr>
            <a:lvl9pPr marL="3657600" indent="0" algn="ctr">
              <a:buNone/>
              <a:defRPr sz="1605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0500" y="120650"/>
            <a:ext cx="292100" cy="608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482600" y="104775"/>
            <a:ext cx="10922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575" b="0" i="0" u="none" strike="noStrike" kern="1200" cap="none" spc="0" normalizeH="0" baseline="0" noProof="1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标题</a:t>
            </a:r>
            <a:endParaRPr kumimoji="0" lang="zh-CN" altLang="en-US" sz="3575" b="0" i="0" u="none" strike="noStrike" kern="1200" cap="none" spc="0" normalizeH="0" baseline="0" noProof="1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2053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1213" y="523875"/>
            <a:ext cx="228600" cy="4762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2330450" y="500063"/>
            <a:ext cx="893763" cy="5222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8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Medium"/>
                <a:ea typeface="思源黑体 CN Medium"/>
                <a:cs typeface="思源黑体 CN Medium"/>
              </a:rPr>
              <a:t>议题</a:t>
            </a: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Medium"/>
              <a:ea typeface="思源黑体 CN Medium"/>
              <a:cs typeface="思源黑体 CN Medium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381250" y="1403350"/>
            <a:ext cx="214313" cy="214313"/>
          </a:xfrm>
          <a:prstGeom prst="ellipse">
            <a:avLst/>
          </a:prstGeom>
          <a:noFill/>
          <a:ln>
            <a:solidFill>
              <a:srgbClr val="188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TextBox 7"/>
          <p:cNvSpPr txBox="1">
            <a:spLocks noChangeArrowheads="1"/>
          </p:cNvSpPr>
          <p:nvPr/>
        </p:nvSpPr>
        <p:spPr bwMode="auto">
          <a:xfrm>
            <a:off x="1774825" y="1295400"/>
            <a:ext cx="2773363" cy="4302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什么是分布式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2711450" y="1730375"/>
            <a:ext cx="4897438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分布式系统有哪些特点？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2711450" y="2765425"/>
            <a:ext cx="4248150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如何保证保证的高可用、高性能、高扩展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6" name="TextBox 7"/>
          <p:cNvSpPr txBox="1">
            <a:spLocks noChangeArrowheads="1"/>
          </p:cNvSpPr>
          <p:nvPr/>
        </p:nvSpPr>
        <p:spPr bwMode="auto">
          <a:xfrm>
            <a:off x="1774825" y="2324100"/>
            <a:ext cx="3332163" cy="4302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zh-CN" sz="22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分布式系统的挑战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395538" y="2433638"/>
            <a:ext cx="214313" cy="214313"/>
          </a:xfrm>
          <a:prstGeom prst="ellipse">
            <a:avLst/>
          </a:prstGeom>
          <a:noFill/>
          <a:ln>
            <a:solidFill>
              <a:srgbClr val="188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TextBox 7"/>
          <p:cNvSpPr txBox="1">
            <a:spLocks noChangeArrowheads="1"/>
          </p:cNvSpPr>
          <p:nvPr/>
        </p:nvSpPr>
        <p:spPr bwMode="auto">
          <a:xfrm>
            <a:off x="1774825" y="3297238"/>
            <a:ext cx="3611563" cy="43021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200" b="0" i="0" u="none" strike="noStrike" kern="1200" cap="none" spc="0" normalizeH="0" baseline="0" noProof="0">
                <a:ln>
                  <a:noFill/>
                </a:ln>
                <a:solidFill>
                  <a:srgbClr val="188EEE"/>
                </a:solidFill>
                <a:effectLst/>
                <a:uLnTx/>
                <a:uFillTx/>
                <a:latin typeface="思源黑体 CN Normal"/>
                <a:ea typeface="思源黑体 CN Normal"/>
                <a:cs typeface="思源黑体 CN Normal"/>
              </a:rPr>
              <a:t>分布式系统技术难点</a:t>
            </a:r>
            <a:endParaRPr kumimoji="0" lang="zh-CN" altLang="zh-CN" sz="2200" b="0" i="0" u="none" strike="noStrike" kern="1200" cap="none" spc="0" normalizeH="0" baseline="0" noProof="0">
              <a:ln>
                <a:noFill/>
              </a:ln>
              <a:solidFill>
                <a:srgbClr val="188EEE"/>
              </a:solidFill>
              <a:effectLst/>
              <a:uLnTx/>
              <a:uFillTx/>
              <a:latin typeface="思源黑体 CN Normal"/>
              <a:ea typeface="思源黑体 CN Normal"/>
              <a:cs typeface="思源黑体 CN Normal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395538" y="3405188"/>
            <a:ext cx="214313" cy="214313"/>
          </a:xfrm>
          <a:prstGeom prst="ellipse">
            <a:avLst/>
          </a:prstGeom>
          <a:noFill/>
          <a:ln>
            <a:solidFill>
              <a:srgbClr val="188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01" y="1709907"/>
            <a:ext cx="10516238" cy="2853019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01" y="4589917"/>
            <a:ext cx="10516238" cy="1500335"/>
          </a:xfrm>
        </p:spPr>
        <p:txBody>
          <a:bodyPr/>
          <a:lstStyle>
            <a:lvl1pPr marL="0" indent="0">
              <a:buNone/>
              <a:defRPr sz="2400"/>
            </a:lvl1pPr>
            <a:lvl2pPr marL="456565" indent="0">
              <a:buNone/>
              <a:defRPr sz="1995"/>
            </a:lvl2pPr>
            <a:lvl3pPr marL="915035" indent="0">
              <a:buNone/>
              <a:defRPr sz="1800"/>
            </a:lvl3pPr>
            <a:lvl4pPr marL="1371600" indent="0">
              <a:buNone/>
              <a:defRPr sz="1605"/>
            </a:lvl4pPr>
            <a:lvl5pPr marL="1828800" indent="0">
              <a:buNone/>
              <a:defRPr sz="1605"/>
            </a:lvl5pPr>
            <a:lvl6pPr marL="2286000" indent="0">
              <a:buNone/>
              <a:defRPr sz="1605"/>
            </a:lvl6pPr>
            <a:lvl7pPr marL="2743835" indent="0">
              <a:buNone/>
              <a:defRPr sz="1605"/>
            </a:lvl7pPr>
            <a:lvl8pPr marL="3200400" indent="0">
              <a:buNone/>
              <a:defRPr sz="1605"/>
            </a:lvl8pPr>
            <a:lvl9pPr marL="3657600" indent="0">
              <a:buNone/>
              <a:defRPr sz="160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20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831850" y="6419850"/>
            <a:ext cx="2305050" cy="3016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hangingPunct="1">
              <a:buNone/>
            </a:pPr>
            <a:fld id="{9A0DB2DC-4C9A-4742-B13C-FB6460FD3503}" type="slidenum">
              <a:rPr lang="zh-CN" altLang="en-US" dirty="0">
                <a:latin typeface="Calibri" panose="020F0502020204030204" pitchFamily="34" charset="0"/>
              </a:rPr>
            </a:fld>
            <a:endParaRPr lang="zh-CN" altLang="en-US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37" y="1600358"/>
            <a:ext cx="5385127" cy="452641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976" y="1600358"/>
            <a:ext cx="5385127" cy="452641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68" y="365161"/>
            <a:ext cx="10516238" cy="1325694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368" y="1681329"/>
            <a:ext cx="5158629" cy="8239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65" indent="0">
              <a:buNone/>
              <a:defRPr sz="1995" b="1"/>
            </a:lvl2pPr>
            <a:lvl3pPr marL="915035" indent="0">
              <a:buNone/>
              <a:defRPr sz="1800" b="1"/>
            </a:lvl3pPr>
            <a:lvl4pPr marL="1371600" indent="0">
              <a:buNone/>
              <a:defRPr sz="1605" b="1"/>
            </a:lvl4pPr>
            <a:lvl5pPr marL="1828800" indent="0">
              <a:buNone/>
              <a:defRPr sz="1605" b="1"/>
            </a:lvl5pPr>
            <a:lvl6pPr marL="2286000" indent="0">
              <a:buNone/>
              <a:defRPr sz="1605" b="1"/>
            </a:lvl6pPr>
            <a:lvl7pPr marL="2743835" indent="0">
              <a:buNone/>
              <a:defRPr sz="1605" b="1"/>
            </a:lvl7pPr>
            <a:lvl8pPr marL="3200400" indent="0">
              <a:buNone/>
              <a:defRPr sz="1605" b="1"/>
            </a:lvl8pPr>
            <a:lvl9pPr marL="3657600" indent="0">
              <a:buNone/>
              <a:defRPr sz="1605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368" y="2505323"/>
            <a:ext cx="5158629" cy="368495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575" y="1681329"/>
            <a:ext cx="5184032" cy="82399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565" indent="0">
              <a:buNone/>
              <a:defRPr sz="1995" b="1"/>
            </a:lvl2pPr>
            <a:lvl3pPr marL="915035" indent="0">
              <a:buNone/>
              <a:defRPr sz="1800" b="1"/>
            </a:lvl3pPr>
            <a:lvl4pPr marL="1371600" indent="0">
              <a:buNone/>
              <a:defRPr sz="1605" b="1"/>
            </a:lvl4pPr>
            <a:lvl5pPr marL="1828800" indent="0">
              <a:buNone/>
              <a:defRPr sz="1605" b="1"/>
            </a:lvl5pPr>
            <a:lvl6pPr marL="2286000" indent="0">
              <a:buNone/>
              <a:defRPr sz="1605" b="1"/>
            </a:lvl6pPr>
            <a:lvl7pPr marL="2743835" indent="0">
              <a:buNone/>
              <a:defRPr sz="1605" b="1"/>
            </a:lvl7pPr>
            <a:lvl8pPr marL="3200400" indent="0">
              <a:buNone/>
              <a:defRPr sz="1605" b="1"/>
            </a:lvl8pPr>
            <a:lvl9pPr marL="3657600" indent="0">
              <a:buNone/>
              <a:defRPr sz="1605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575" y="2505323"/>
            <a:ext cx="5184032" cy="368495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68" y="457245"/>
            <a:ext cx="3933005" cy="1600358"/>
          </a:xfrm>
        </p:spPr>
        <p:txBody>
          <a:bodyPr anchor="b"/>
          <a:lstStyle>
            <a:lvl1pPr>
              <a:defRPr sz="320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4032" y="987523"/>
            <a:ext cx="6172575" cy="4874107"/>
          </a:xfrm>
        </p:spPr>
        <p:txBody>
          <a:bodyPr/>
          <a:lstStyle>
            <a:lvl1pPr>
              <a:defRPr sz="3205"/>
            </a:lvl1pPr>
            <a:lvl2pPr>
              <a:defRPr sz="2800"/>
            </a:lvl2pPr>
            <a:lvl3pPr>
              <a:defRPr sz="2400"/>
            </a:lvl3pPr>
            <a:lvl4pPr>
              <a:defRPr sz="1995"/>
            </a:lvl4pPr>
            <a:lvl5pPr>
              <a:defRPr sz="1995"/>
            </a:lvl5pPr>
            <a:lvl6pPr>
              <a:defRPr sz="1995"/>
            </a:lvl6pPr>
            <a:lvl7pPr>
              <a:defRPr sz="1995"/>
            </a:lvl7pPr>
            <a:lvl8pPr>
              <a:defRPr sz="1995"/>
            </a:lvl8pPr>
            <a:lvl9pPr>
              <a:defRPr sz="199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68" y="2057603"/>
            <a:ext cx="3933005" cy="3811965"/>
          </a:xfrm>
        </p:spPr>
        <p:txBody>
          <a:bodyPr/>
          <a:lstStyle>
            <a:lvl1pPr marL="0" indent="0">
              <a:buNone/>
              <a:defRPr sz="1605"/>
            </a:lvl1pPr>
            <a:lvl2pPr marL="456565" indent="0">
              <a:buNone/>
              <a:defRPr sz="1395"/>
            </a:lvl2pPr>
            <a:lvl3pPr marL="915035" indent="0">
              <a:buNone/>
              <a:defRPr sz="1200"/>
            </a:lvl3pPr>
            <a:lvl4pPr marL="1371600" indent="0">
              <a:buNone/>
              <a:defRPr sz="1005"/>
            </a:lvl4pPr>
            <a:lvl5pPr marL="1828800" indent="0">
              <a:buNone/>
              <a:defRPr sz="1005"/>
            </a:lvl5pPr>
            <a:lvl6pPr marL="2286000" indent="0">
              <a:buNone/>
              <a:defRPr sz="1005"/>
            </a:lvl6pPr>
            <a:lvl7pPr marL="2743835" indent="0">
              <a:buNone/>
              <a:defRPr sz="1005"/>
            </a:lvl7pPr>
            <a:lvl8pPr marL="3200400" indent="0">
              <a:buNone/>
              <a:defRPr sz="1005"/>
            </a:lvl8pPr>
            <a:lvl9pPr marL="3657600" indent="0">
              <a:buNone/>
              <a:defRPr sz="100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368" y="457245"/>
            <a:ext cx="3933005" cy="1600358"/>
          </a:xfrm>
        </p:spPr>
        <p:txBody>
          <a:bodyPr anchor="b"/>
          <a:lstStyle>
            <a:lvl1pPr>
              <a:defRPr sz="3205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4032" y="987523"/>
            <a:ext cx="6172575" cy="4874107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5"/>
            </a:lvl1pPr>
            <a:lvl2pPr marL="456565" indent="0">
              <a:buNone/>
              <a:defRPr sz="2800"/>
            </a:lvl2pPr>
            <a:lvl3pPr marL="915035" indent="0">
              <a:buNone/>
              <a:defRPr sz="2400"/>
            </a:lvl3pPr>
            <a:lvl4pPr marL="1371600" indent="0">
              <a:buNone/>
              <a:defRPr sz="1995"/>
            </a:lvl4pPr>
            <a:lvl5pPr marL="1828800" indent="0">
              <a:buNone/>
              <a:defRPr sz="1995"/>
            </a:lvl5pPr>
            <a:lvl6pPr marL="2286000" indent="0">
              <a:buNone/>
              <a:defRPr sz="1995"/>
            </a:lvl6pPr>
            <a:lvl7pPr marL="2743835" indent="0">
              <a:buNone/>
              <a:defRPr sz="1995"/>
            </a:lvl7pPr>
            <a:lvl8pPr marL="3200400" indent="0">
              <a:buNone/>
              <a:defRPr sz="1995"/>
            </a:lvl8pPr>
            <a:lvl9pPr marL="3657600" indent="0">
              <a:buNone/>
              <a:defRPr sz="1995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5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368" y="2057603"/>
            <a:ext cx="3933005" cy="3811965"/>
          </a:xfrm>
        </p:spPr>
        <p:txBody>
          <a:bodyPr/>
          <a:lstStyle>
            <a:lvl1pPr marL="0" indent="0">
              <a:buNone/>
              <a:defRPr sz="1605"/>
            </a:lvl1pPr>
            <a:lvl2pPr marL="456565" indent="0">
              <a:buNone/>
              <a:defRPr sz="1395"/>
            </a:lvl2pPr>
            <a:lvl3pPr marL="915035" indent="0">
              <a:buNone/>
              <a:defRPr sz="1200"/>
            </a:lvl3pPr>
            <a:lvl4pPr marL="1371600" indent="0">
              <a:buNone/>
              <a:defRPr sz="1005"/>
            </a:lvl4pPr>
            <a:lvl5pPr marL="1828800" indent="0">
              <a:buNone/>
              <a:defRPr sz="1005"/>
            </a:lvl5pPr>
            <a:lvl6pPr marL="2286000" indent="0">
              <a:buNone/>
              <a:defRPr sz="1005"/>
            </a:lvl6pPr>
            <a:lvl7pPr marL="2743835" indent="0">
              <a:buNone/>
              <a:defRPr sz="1005"/>
            </a:lvl7pPr>
            <a:lvl8pPr marL="3200400" indent="0">
              <a:buNone/>
              <a:defRPr sz="1005"/>
            </a:lvl8pPr>
            <a:lvl9pPr marL="3657600" indent="0">
              <a:buNone/>
              <a:defRPr sz="1005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736" y="274665"/>
            <a:ext cx="2743366" cy="5852103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37" y="274665"/>
            <a:ext cx="8026887" cy="5852103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单击此处编辑母版文本样式</a:t>
            </a:r>
            <a:endParaRPr lang="en-US" altLang="zh-CN" dirty="0"/>
          </a:p>
          <a:p>
            <a:pPr lvl="1"/>
            <a:r>
              <a:rPr lang="en-US" altLang="zh-CN" dirty="0"/>
              <a:t>第二级</a:t>
            </a:r>
            <a:endParaRPr lang="en-US" altLang="zh-CN" dirty="0"/>
          </a:p>
          <a:p>
            <a:pPr lvl="2"/>
            <a:r>
              <a:rPr lang="en-US" altLang="zh-CN" dirty="0"/>
              <a:t>第三级</a:t>
            </a:r>
            <a:endParaRPr lang="en-US" altLang="zh-CN" dirty="0"/>
          </a:p>
          <a:p>
            <a:pPr lvl="3"/>
            <a:r>
              <a:rPr lang="en-US" altLang="zh-CN" dirty="0"/>
              <a:t>第四级</a:t>
            </a:r>
            <a:endParaRPr lang="en-US" altLang="zh-CN" dirty="0"/>
          </a:p>
          <a:p>
            <a:pPr lvl="4"/>
            <a:r>
              <a:rPr lang="en-US" altLang="zh-CN" dirty="0"/>
              <a:t>第五级</a:t>
            </a:r>
            <a:endParaRPr lang="en-US" altLang="zh-CN" dirty="0"/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+mn-lt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31" name="图片 3" descr="66-0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95000" y="63500"/>
            <a:ext cx="1249363" cy="1069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503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50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503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tags" Target="../tags/tag2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Relationship Id="rId3" Type="http://schemas.openxmlformats.org/officeDocument/2006/relationships/tags" Target="../tags/tag3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Relationship Id="rId3" Type="http://schemas.openxmlformats.org/officeDocument/2006/relationships/tags" Target="../tags/tag4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Relationship Id="rId3" Type="http://schemas.openxmlformats.org/officeDocument/2006/relationships/tags" Target="../tags/tag5.xml"/><Relationship Id="rId2" Type="http://schemas.openxmlformats.org/officeDocument/2006/relationships/image" Target="../media/image6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2"/>
          <p:cNvSpPr txBox="1"/>
          <p:nvPr>
            <p:custDataLst>
              <p:tags r:id="rId2"/>
            </p:custDataLst>
          </p:nvPr>
        </p:nvSpPr>
        <p:spPr>
          <a:xfrm>
            <a:off x="2084070" y="1991360"/>
            <a:ext cx="9058910" cy="79121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4000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如何实现15分钟未支付自动取消订单</a:t>
            </a:r>
            <a:r>
              <a:rPr lang="zh-CN" altLang="en-US" sz="4000" b="1" dirty="0">
                <a:solidFill>
                  <a:schemeClr val="bg1"/>
                </a:solidFill>
                <a:latin typeface="思源黑体 CN Light" pitchFamily="34" charset="-122"/>
                <a:ea typeface="思源黑体 CN Light" pitchFamily="34" charset="-122"/>
              </a:rPr>
              <a:t>？</a:t>
            </a:r>
            <a:endParaRPr lang="zh-CN" altLang="en-US" sz="4000" b="1" dirty="0">
              <a:solidFill>
                <a:schemeClr val="bg1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90990" y="4147820"/>
            <a:ext cx="489585" cy="13119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sz="2000">
                <a:solidFill>
                  <a:schemeClr val="bg2">
                    <a:lumMod val="75000"/>
                  </a:schemeClr>
                </a:solidFill>
              </a:rPr>
              <a:t>图灵小毅</a:t>
            </a:r>
            <a:endParaRPr lang="zh-CN" sz="200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3"/>
          <a:stretch>
            <a:fillRect/>
          </a:stretch>
        </p:blipFill>
        <p:spPr>
          <a:xfrm>
            <a:off x="10344150" y="71755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15640" y="3198495"/>
            <a:ext cx="5495925" cy="755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    </a:t>
            </a:r>
            <a:r>
              <a:rPr lang="zh-CN" altLang="en-US" sz="2400" b="1">
                <a:solidFill>
                  <a:schemeClr val="bg2">
                    <a:lumMod val="75000"/>
                  </a:schemeClr>
                </a:solidFill>
              </a:rPr>
              <a:t>天下风云出我辈，一入代码岁月催</a:t>
            </a:r>
            <a:endParaRPr lang="zh-CN" altLang="en-US" sz="2400" b="1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10915" y="4058920"/>
            <a:ext cx="4710430" cy="6134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400" b="1">
                <a:solidFill>
                  <a:schemeClr val="bg2">
                    <a:lumMod val="75000"/>
                  </a:schemeClr>
                </a:solidFill>
              </a:rPr>
              <a:t>    </a:t>
            </a:r>
            <a:r>
              <a:rPr lang="zh-CN" altLang="en-US" sz="1400" b="1">
                <a:solidFill>
                  <a:schemeClr val="bg2">
                    <a:lumMod val="75000"/>
                  </a:schemeClr>
                </a:solidFill>
              </a:rPr>
              <a:t>废话中提取干货，干货中带有废话，二者</a:t>
            </a:r>
            <a:r>
              <a:rPr lang="zh-CN" altLang="en-US" sz="1400" b="1">
                <a:solidFill>
                  <a:schemeClr val="bg2">
                    <a:lumMod val="75000"/>
                  </a:schemeClr>
                </a:solidFill>
              </a:rPr>
              <a:t>相融以沫</a:t>
            </a:r>
            <a:endParaRPr lang="zh-CN" altLang="en-US" sz="1400" b="1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3780155" cy="4464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0" y="188595"/>
            <a:ext cx="3829050" cy="4197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利用任务调度定时轮询订单表</a:t>
            </a:r>
            <a:endParaRPr lang="zh-CN" altLang="en-US" sz="2000" b="1" dirty="0">
              <a:solidFill>
                <a:srgbClr val="FFFF00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991995" y="1370965"/>
            <a:ext cx="7941310" cy="989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方案描述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en-US" altLang="zh-CN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 每隔n分钟，搜索订单表订单时间&gt;15分钟的记录，将订单状态变更为取消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实现细则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en-US" altLang="zh-CN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单体应用：利用Spring-Task或者Quartz等单机任务调度工具定时执行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集群环境：利用分布式任务调度工具XXL_JOB执行分布式任务调度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优势：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实现简单粗暴，单机环境无需外部依赖，小应用首选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劣势：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时效性差，n分钟扫描一次，订单状态不能及时更新；n秒钟扫描一次，订单表查询压力大（执行计划：Range），需要做权衡。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XXL_JOB这玩意儿不是每个项目都有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3780155" cy="4464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0" y="188595"/>
            <a:ext cx="3829050" cy="4197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Redis6 客户端缓存监听方案</a:t>
            </a:r>
            <a:endParaRPr lang="zh-CN" altLang="en-US" sz="2000" b="1" dirty="0">
              <a:solidFill>
                <a:srgbClr val="FFFF00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991995" y="1370965"/>
            <a:ext cx="7941310" cy="9893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chemeClr val="bg1"/>
                </a:solidFill>
              </a:rPr>
              <a:t>方案描述</a:t>
            </a:r>
            <a:r>
              <a:rPr lang="en-US" altLang="zh-CN">
                <a:solidFill>
                  <a:schemeClr val="bg1"/>
                </a:solidFill>
              </a:rPr>
              <a:t>:</a:t>
            </a:r>
            <a:endParaRPr lang="en-US" altLang="zh-CN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-  Redis6 客户端缓存监听方案，监听Redis6数据变化</a:t>
            </a:r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  <a:p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750" y="2719705"/>
            <a:ext cx="7719695" cy="36715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3780155" cy="4464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0" y="188595"/>
            <a:ext cx="3829050" cy="4197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Redis6 客户端缓存监听方案</a:t>
            </a:r>
            <a:endParaRPr lang="zh-CN" altLang="en-US" sz="2000" b="1" dirty="0">
              <a:solidFill>
                <a:srgbClr val="FFFF00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811145" y="4435475"/>
            <a:ext cx="6453505" cy="1787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solidFill>
                  <a:schemeClr val="bg1"/>
                </a:solidFill>
              </a:rPr>
              <a:t>优势：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          -</a:t>
            </a:r>
            <a:r>
              <a:rPr lang="zh-CN" altLang="en-US" sz="1600">
                <a:solidFill>
                  <a:schemeClr val="bg1"/>
                </a:solidFill>
              </a:rPr>
              <a:t>订单即时发送 redis6主动推送到redis进行订单取消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          -</a:t>
            </a:r>
            <a:r>
              <a:rPr lang="zh-CN" altLang="en-US" sz="1600">
                <a:solidFill>
                  <a:schemeClr val="bg1"/>
                </a:solidFill>
              </a:rPr>
              <a:t>谁创建了订单，就有谁</a:t>
            </a:r>
            <a:r>
              <a:rPr lang="zh-CN" altLang="en-US" sz="1600">
                <a:solidFill>
                  <a:schemeClr val="bg1"/>
                </a:solidFill>
              </a:rPr>
              <a:t>取消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劣势：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         -</a:t>
            </a:r>
            <a:r>
              <a:rPr lang="zh-CN" altLang="en-US" sz="1600">
                <a:solidFill>
                  <a:schemeClr val="bg1"/>
                </a:solidFill>
              </a:rPr>
              <a:t>之前应用是</a:t>
            </a:r>
            <a:r>
              <a:rPr lang="en-US" altLang="zh-CN" sz="1600">
                <a:solidFill>
                  <a:schemeClr val="bg1"/>
                </a:solidFill>
              </a:rPr>
              <a:t>redis4,</a:t>
            </a:r>
            <a:r>
              <a:rPr lang="zh-CN" altLang="en-US" sz="1600">
                <a:solidFill>
                  <a:schemeClr val="bg1"/>
                </a:solidFill>
              </a:rPr>
              <a:t>需要升级redis</a:t>
            </a:r>
            <a:r>
              <a:rPr lang="en-US" altLang="zh-CN" sz="1600">
                <a:solidFill>
                  <a:schemeClr val="bg1"/>
                </a:solidFill>
              </a:rPr>
              <a:t>6</a:t>
            </a:r>
            <a:r>
              <a:rPr lang="zh-CN" altLang="en-US" sz="1600">
                <a:solidFill>
                  <a:schemeClr val="bg1"/>
                </a:solidFill>
              </a:rPr>
              <a:t> ,实例数量发生变化需要重新</a:t>
            </a:r>
            <a:r>
              <a:rPr lang="en-US" altLang="zh-CN" sz="1600">
                <a:solidFill>
                  <a:schemeClr val="bg1"/>
                </a:solidFill>
              </a:rPr>
              <a:t>       </a:t>
            </a:r>
            <a:r>
              <a:rPr lang="zh-CN" altLang="en-US" sz="1600">
                <a:solidFill>
                  <a:schemeClr val="bg1"/>
                </a:solidFill>
              </a:rPr>
              <a:t>分配，需要长连接如果长连接失效需要手动补偿</a:t>
            </a:r>
            <a:endParaRPr lang="zh-CN" altLang="en-US" sz="1600">
              <a:solidFill>
                <a:schemeClr val="bg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350" y="908685"/>
            <a:ext cx="5683250" cy="326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218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357100" cy="6964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0" name="object 4"/>
          <p:cNvSpPr/>
          <p:nvPr/>
        </p:nvSpPr>
        <p:spPr>
          <a:xfrm>
            <a:off x="0" y="188595"/>
            <a:ext cx="3780155" cy="446405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9525">
            <a:noFill/>
          </a:ln>
        </p:spPr>
        <p:txBody>
          <a:bodyPr lIns="0" tIns="0" rIns="0" bIns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endParaRPr lang="zh-CN" altLang="zh-CN" sz="1800" dirty="0">
              <a:latin typeface="Arial" panose="020B0604020202020204" pitchFamily="34" charset="0"/>
            </a:endParaRPr>
          </a:p>
        </p:txBody>
      </p:sp>
      <p:sp>
        <p:nvSpPr>
          <p:cNvPr id="2" name="文本框 2"/>
          <p:cNvSpPr txBox="1"/>
          <p:nvPr>
            <p:custDataLst>
              <p:tags r:id="rId3"/>
            </p:custDataLst>
          </p:nvPr>
        </p:nvSpPr>
        <p:spPr>
          <a:xfrm>
            <a:off x="0" y="188595"/>
            <a:ext cx="3829050" cy="419735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rgbClr val="FFFF00"/>
                </a:solidFill>
                <a:latin typeface="思源黑体 CN Light" pitchFamily="34" charset="-122"/>
                <a:ea typeface="思源黑体 CN Light" pitchFamily="34" charset="-122"/>
              </a:rPr>
              <a:t>RocketMq+延迟列队，死信列队</a:t>
            </a:r>
            <a:endParaRPr lang="zh-CN" altLang="en-US" sz="2000" b="1" dirty="0">
              <a:solidFill>
                <a:srgbClr val="FFFF00"/>
              </a:solidFill>
              <a:latin typeface="思源黑体 CN Light" pitchFamily="34" charset="-122"/>
              <a:ea typeface="思源黑体 CN Light" pitchFamily="34" charset="-122"/>
            </a:endParaRPr>
          </a:p>
        </p:txBody>
      </p:sp>
      <p:pic>
        <p:nvPicPr>
          <p:cNvPr id="101" name="图片 100"/>
          <p:cNvPicPr/>
          <p:nvPr/>
        </p:nvPicPr>
        <p:blipFill>
          <a:blip r:embed="rId4"/>
          <a:stretch>
            <a:fillRect/>
          </a:stretch>
        </p:blipFill>
        <p:spPr>
          <a:xfrm>
            <a:off x="10344785" y="78740"/>
            <a:ext cx="1748790" cy="5562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2829560" y="4623435"/>
            <a:ext cx="643509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bg1"/>
                </a:solidFill>
              </a:rPr>
              <a:t>优势：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 </a:t>
            </a:r>
            <a:r>
              <a:rPr lang="en-US" altLang="zh-CN" sz="1600">
                <a:solidFill>
                  <a:schemeClr val="bg1"/>
                </a:solidFill>
              </a:rPr>
              <a:t>     -</a:t>
            </a:r>
            <a:r>
              <a:rPr lang="zh-CN" altLang="en-US" sz="1600">
                <a:solidFill>
                  <a:schemeClr val="bg1"/>
                </a:solidFill>
              </a:rPr>
              <a:t>消息及时投递，集群友好，代码量小，不需要额外集群调整，也不绑定具体</a:t>
            </a:r>
            <a:r>
              <a:rPr lang="zh-CN" altLang="en-US" sz="1600">
                <a:solidFill>
                  <a:schemeClr val="bg1"/>
                </a:solidFill>
              </a:rPr>
              <a:t>实例</a:t>
            </a:r>
            <a:endParaRPr lang="zh-CN" altLang="en-US" sz="1600">
              <a:solidFill>
                <a:schemeClr val="bg1"/>
              </a:solidFill>
            </a:endParaRPr>
          </a:p>
          <a:p>
            <a:endParaRPr lang="zh-CN" altLang="en-US" sz="1600">
              <a:solidFill>
                <a:schemeClr val="bg1"/>
              </a:solidFill>
            </a:endParaRPr>
          </a:p>
          <a:p>
            <a:r>
              <a:rPr lang="zh-CN" altLang="en-US" sz="1600">
                <a:solidFill>
                  <a:schemeClr val="bg1"/>
                </a:solidFill>
              </a:rPr>
              <a:t>劣势：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      -</a:t>
            </a:r>
            <a:r>
              <a:rPr lang="zh-CN" altLang="en-US" sz="1600">
                <a:solidFill>
                  <a:schemeClr val="bg1"/>
                </a:solidFill>
              </a:rPr>
              <a:t>必须要有</a:t>
            </a:r>
            <a:r>
              <a:rPr lang="en-US" altLang="zh-CN" sz="1600">
                <a:solidFill>
                  <a:schemeClr val="bg1"/>
                </a:solidFill>
              </a:rPr>
              <a:t>MQ</a:t>
            </a:r>
            <a:r>
              <a:rPr lang="zh-CN" altLang="en-US" sz="1600">
                <a:solidFill>
                  <a:schemeClr val="bg1"/>
                </a:solidFill>
              </a:rPr>
              <a:t>，会</a:t>
            </a:r>
            <a:r>
              <a:rPr lang="zh-CN" altLang="en-US" sz="1600">
                <a:solidFill>
                  <a:schemeClr val="bg1"/>
                </a:solidFill>
              </a:rPr>
              <a:t>用</a:t>
            </a:r>
            <a:endParaRPr lang="zh-CN" altLang="en-US" sz="1600">
              <a:solidFill>
                <a:schemeClr val="bg1"/>
              </a:solidFill>
            </a:endParaRPr>
          </a:p>
          <a:p>
            <a:r>
              <a:rPr lang="en-US" altLang="zh-CN" sz="1600">
                <a:solidFill>
                  <a:schemeClr val="bg1"/>
                </a:solidFill>
              </a:rPr>
              <a:t>      -</a:t>
            </a:r>
            <a:r>
              <a:rPr lang="zh-CN" altLang="en-US" sz="1600">
                <a:solidFill>
                  <a:schemeClr val="bg1"/>
                </a:solidFill>
              </a:rPr>
              <a:t>需要关注幂等问题</a:t>
            </a:r>
            <a:endParaRPr lang="zh-CN" altLang="en-US" sz="1600">
              <a:solidFill>
                <a:schemeClr val="bg1"/>
              </a:solidFill>
            </a:endParaRPr>
          </a:p>
        </p:txBody>
      </p:sp>
      <p:pic>
        <p:nvPicPr>
          <p:cNvPr id="100" name="图片 99"/>
          <p:cNvPicPr/>
          <p:nvPr/>
        </p:nvPicPr>
        <p:blipFill>
          <a:blip r:embed="rId5"/>
          <a:stretch>
            <a:fillRect/>
          </a:stretch>
        </p:blipFill>
        <p:spPr>
          <a:xfrm>
            <a:off x="1786255" y="836295"/>
            <a:ext cx="8455660" cy="34836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YjI5MWEwOGZkYTlmNTFiMzViNDMwMjI3MmUzY2YyMjUifQ=="/>
  <p:tag name="KSO_WPP_MARK_KEY" val="030365fd-6e5b-4888-9b4c-1829d85bf976"/>
  <p:tag name="commondata" val="eyJoZGlkIjoiY2ZjZWViYTNkYjkzOWQ2ZDY2ODdiMGI2NDk5NTU1N2MifQ=="/>
</p:tagLst>
</file>

<file path=ppt/theme/theme1.xml><?xml version="1.0" encoding="utf-8"?>
<a:theme xmlns:a="http://schemas.openxmlformats.org/drawingml/2006/main" name="Office 主题">
  <a:themeElements>
    <a:clrScheme name="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627</Words>
  <Application>WPS 演示</Application>
  <PresentationFormat>宽屏</PresentationFormat>
  <Paragraphs>54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思源黑体 CN Medium</vt:lpstr>
      <vt:lpstr>黑体</vt:lpstr>
      <vt:lpstr>思源黑体 CN Normal</vt:lpstr>
      <vt:lpstr>思源黑体 CN Light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rogerjsliu(刘骏嵩)</dc:creator>
  <cp:lastModifiedBy>善解仁毅</cp:lastModifiedBy>
  <cp:revision>1406</cp:revision>
  <cp:lastPrinted>2016-12-15T14:51:00Z</cp:lastPrinted>
  <dcterms:created xsi:type="dcterms:W3CDTF">2014-12-23T12:00:00Z</dcterms:created>
  <dcterms:modified xsi:type="dcterms:W3CDTF">2024-04-10T00:59:14Z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2052-12.1.0.16388</vt:lpwstr>
  </property>
  <property fmtid="{D5CDD505-2E9C-101B-9397-08002B2CF9AE}" pid="3" name="ICV">
    <vt:lpwstr>579AC5A5981741779662CF828DA3BDC3</vt:lpwstr>
  </property>
</Properties>
</file>