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461" r:id="rId3"/>
    <p:sldId id="467" r:id="rId4"/>
    <p:sldId id="469" r:id="rId5"/>
    <p:sldId id="470" r:id="rId6"/>
    <p:sldId id="471" r:id="rId7"/>
  </p:sldIdLst>
  <p:sldSz cx="12192000" cy="6858000"/>
  <p:notesSz cx="6858000" cy="9144000"/>
  <p:custDataLst>
    <p:tags r:id="rId13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9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ren ren" initials="rr" lastIdx="2" clrIdx="0"/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900"/>
    <a:srgbClr val="FF5B00"/>
    <a:srgbClr val="FF6500"/>
    <a:srgbClr val="FF6000"/>
    <a:srgbClr val="009FE8"/>
    <a:srgbClr val="52AA46"/>
    <a:srgbClr val="23E10F"/>
    <a:srgbClr val="F095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6530"/>
    <p:restoredTop sz="94660"/>
  </p:normalViewPr>
  <p:slideViewPr>
    <p:cSldViewPr showGuides="1">
      <p:cViewPr varScale="1">
        <p:scale>
          <a:sx n="100" d="100"/>
          <a:sy n="100" d="100"/>
        </p:scale>
        <p:origin x="403" y="58"/>
      </p:cViewPr>
      <p:guideLst>
        <p:guide orient="horz" pos="2193"/>
        <p:guide pos="3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6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739CBA8-2A80-42CB-9A24-C1C9C17B4205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92" y="1122474"/>
            <a:ext cx="9144555" cy="2387836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92" y="3602394"/>
            <a:ext cx="9144555" cy="165592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6565" indent="0" algn="ctr">
              <a:buNone/>
              <a:defRPr sz="1995"/>
            </a:lvl2pPr>
            <a:lvl3pPr marL="915035" indent="0" algn="ctr">
              <a:buNone/>
              <a:defRPr sz="1800"/>
            </a:lvl3pPr>
            <a:lvl4pPr marL="1371600" indent="0" algn="ctr">
              <a:buNone/>
              <a:defRPr sz="1605"/>
            </a:lvl4pPr>
            <a:lvl5pPr marL="1828800" indent="0" algn="ctr">
              <a:buNone/>
              <a:defRPr sz="1605"/>
            </a:lvl5pPr>
            <a:lvl6pPr marL="2286000" indent="0" algn="ctr">
              <a:buNone/>
              <a:defRPr sz="1605"/>
            </a:lvl6pPr>
            <a:lvl7pPr marL="2743835" indent="0" algn="ctr">
              <a:buNone/>
              <a:defRPr sz="1605"/>
            </a:lvl7pPr>
            <a:lvl8pPr marL="3200400" indent="0" algn="ctr">
              <a:buNone/>
              <a:defRPr sz="1605"/>
            </a:lvl8pPr>
            <a:lvl9pPr marL="3657600" indent="0" algn="ctr">
              <a:buNone/>
              <a:defRPr sz="1605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120650"/>
            <a:ext cx="292100" cy="6080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482600" y="104775"/>
            <a:ext cx="109220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575" b="0" i="0" u="none" strike="noStrike" kern="1200" cap="none" spc="0" normalizeH="0" baseline="0" noProof="1">
                <a:ln>
                  <a:noFill/>
                </a:ln>
                <a:solidFill>
                  <a:srgbClr val="188EE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标题</a:t>
            </a:r>
            <a:endParaRPr kumimoji="0" lang="zh-CN" altLang="en-US" sz="3575" b="0" i="0" u="none" strike="noStrike" kern="1200" cap="none" spc="0" normalizeH="0" baseline="0" noProof="1">
              <a:ln>
                <a:noFill/>
              </a:ln>
              <a:solidFill>
                <a:srgbClr val="188EE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pic>
        <p:nvPicPr>
          <p:cNvPr id="2053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81213" y="523875"/>
            <a:ext cx="228600" cy="476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Box 4"/>
          <p:cNvSpPr txBox="1">
            <a:spLocks noChangeArrowheads="1"/>
          </p:cNvSpPr>
          <p:nvPr/>
        </p:nvSpPr>
        <p:spPr bwMode="auto">
          <a:xfrm>
            <a:off x="2330450" y="500063"/>
            <a:ext cx="893763" cy="5222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188EEE"/>
                </a:solidFill>
                <a:effectLst/>
                <a:uLnTx/>
                <a:uFillTx/>
                <a:latin typeface="思源黑体 CN Medium"/>
                <a:ea typeface="思源黑体 CN Medium"/>
                <a:cs typeface="思源黑体 CN Medium"/>
              </a:rPr>
              <a:t>议题</a:t>
            </a:r>
            <a:endParaRPr kumimoji="0" lang="zh-CN" altLang="zh-CN" sz="2800" b="0" i="0" u="none" strike="noStrike" kern="1200" cap="none" spc="0" normalizeH="0" baseline="0" noProof="0">
              <a:ln>
                <a:noFill/>
              </a:ln>
              <a:solidFill>
                <a:srgbClr val="188EEE"/>
              </a:solidFill>
              <a:effectLst/>
              <a:uLnTx/>
              <a:uFillTx/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2381250" y="1403350"/>
            <a:ext cx="214313" cy="214313"/>
          </a:xfrm>
          <a:prstGeom prst="ellipse">
            <a:avLst/>
          </a:prstGeom>
          <a:noFill/>
          <a:ln>
            <a:solidFill>
              <a:srgbClr val="188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TextBox 7"/>
          <p:cNvSpPr txBox="1">
            <a:spLocks noChangeArrowheads="1"/>
          </p:cNvSpPr>
          <p:nvPr/>
        </p:nvSpPr>
        <p:spPr bwMode="auto">
          <a:xfrm>
            <a:off x="1774825" y="1295400"/>
            <a:ext cx="2773363" cy="4302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200" b="0" i="0" u="none" strike="noStrike" kern="1200" cap="none" spc="0" normalizeH="0" baseline="0" noProof="0">
                <a:ln>
                  <a:noFill/>
                </a:ln>
                <a:solidFill>
                  <a:srgbClr val="188EEE"/>
                </a:solidFill>
                <a:effectLst/>
                <a:uLnTx/>
                <a:uFillTx/>
                <a:latin typeface="思源黑体 CN Normal"/>
                <a:ea typeface="思源黑体 CN Normal"/>
                <a:cs typeface="思源黑体 CN Normal"/>
              </a:rPr>
              <a:t>什么是分布式</a:t>
            </a:r>
            <a:endParaRPr kumimoji="0" lang="zh-CN" altLang="zh-CN" sz="2200" b="0" i="0" u="none" strike="noStrike" kern="1200" cap="none" spc="0" normalizeH="0" baseline="0" noProof="0">
              <a:ln>
                <a:noFill/>
              </a:ln>
              <a:solidFill>
                <a:srgbClr val="188EEE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/>
            </a:endParaRPr>
          </a:p>
        </p:txBody>
      </p:sp>
      <p:sp>
        <p:nvSpPr>
          <p:cNvPr id="14" name="TextBox 8"/>
          <p:cNvSpPr txBox="1">
            <a:spLocks noChangeArrowheads="1"/>
          </p:cNvSpPr>
          <p:nvPr/>
        </p:nvSpPr>
        <p:spPr bwMode="auto">
          <a:xfrm>
            <a:off x="2711450" y="1730375"/>
            <a:ext cx="4897438" cy="3365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思源黑体 CN Normal"/>
                <a:ea typeface="思源黑体 CN Normal"/>
                <a:cs typeface="思源黑体 CN Normal"/>
              </a:rPr>
              <a:t>分布式系统有哪些特点？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/>
            </a:endParaRPr>
          </a:p>
        </p:txBody>
      </p:sp>
      <p:sp>
        <p:nvSpPr>
          <p:cNvPr id="15" name="TextBox 11"/>
          <p:cNvSpPr txBox="1">
            <a:spLocks noChangeArrowheads="1"/>
          </p:cNvSpPr>
          <p:nvPr/>
        </p:nvSpPr>
        <p:spPr bwMode="auto">
          <a:xfrm>
            <a:off x="2711450" y="2765425"/>
            <a:ext cx="4248150" cy="3365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思源黑体 CN Normal"/>
                <a:ea typeface="思源黑体 CN Normal"/>
                <a:cs typeface="思源黑体 CN Normal"/>
              </a:rPr>
              <a:t>如何保证保证的高可用、高性能、高扩展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/>
            </a:endParaRPr>
          </a:p>
        </p:txBody>
      </p:sp>
      <p:sp>
        <p:nvSpPr>
          <p:cNvPr id="16" name="TextBox 7"/>
          <p:cNvSpPr txBox="1">
            <a:spLocks noChangeArrowheads="1"/>
          </p:cNvSpPr>
          <p:nvPr/>
        </p:nvSpPr>
        <p:spPr bwMode="auto">
          <a:xfrm>
            <a:off x="1774825" y="2324100"/>
            <a:ext cx="3332163" cy="4302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200" b="0" i="0" u="none" strike="noStrike" kern="1200" cap="none" spc="0" normalizeH="0" baseline="0" noProof="0">
                <a:ln>
                  <a:noFill/>
                </a:ln>
                <a:solidFill>
                  <a:srgbClr val="188EEE"/>
                </a:solidFill>
                <a:effectLst/>
                <a:uLnTx/>
                <a:uFillTx/>
                <a:latin typeface="思源黑体 CN Normal"/>
                <a:ea typeface="思源黑体 CN Normal"/>
                <a:cs typeface="思源黑体 CN Normal"/>
              </a:rPr>
              <a:t>分布式系统的挑战</a:t>
            </a:r>
            <a:endParaRPr kumimoji="0" lang="zh-CN" altLang="zh-CN" sz="2200" b="0" i="0" u="none" strike="noStrike" kern="1200" cap="none" spc="0" normalizeH="0" baseline="0" noProof="0">
              <a:ln>
                <a:noFill/>
              </a:ln>
              <a:solidFill>
                <a:srgbClr val="188EEE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395538" y="2433638"/>
            <a:ext cx="214313" cy="214313"/>
          </a:xfrm>
          <a:prstGeom prst="ellipse">
            <a:avLst/>
          </a:prstGeom>
          <a:noFill/>
          <a:ln>
            <a:solidFill>
              <a:srgbClr val="188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TextBox 7"/>
          <p:cNvSpPr txBox="1">
            <a:spLocks noChangeArrowheads="1"/>
          </p:cNvSpPr>
          <p:nvPr/>
        </p:nvSpPr>
        <p:spPr bwMode="auto">
          <a:xfrm>
            <a:off x="1774825" y="3297238"/>
            <a:ext cx="3611563" cy="4302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188EEE"/>
                </a:solidFill>
                <a:effectLst/>
                <a:uLnTx/>
                <a:uFillTx/>
                <a:latin typeface="思源黑体 CN Normal"/>
                <a:ea typeface="思源黑体 CN Normal"/>
                <a:cs typeface="思源黑体 CN Normal"/>
              </a:rPr>
              <a:t>分布式系统技术难点</a:t>
            </a:r>
            <a:endParaRPr kumimoji="0" lang="zh-CN" altLang="zh-CN" sz="2200" b="0" i="0" u="none" strike="noStrike" kern="1200" cap="none" spc="0" normalizeH="0" baseline="0" noProof="0">
              <a:ln>
                <a:noFill/>
              </a:ln>
              <a:solidFill>
                <a:srgbClr val="188EEE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2395538" y="3405188"/>
            <a:ext cx="214313" cy="214313"/>
          </a:xfrm>
          <a:prstGeom prst="ellipse">
            <a:avLst/>
          </a:prstGeom>
          <a:noFill/>
          <a:ln>
            <a:solidFill>
              <a:srgbClr val="188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01" y="1709907"/>
            <a:ext cx="10516238" cy="2853019"/>
          </a:xfrm>
        </p:spPr>
        <p:txBody>
          <a:bodyPr anchor="b"/>
          <a:lstStyle>
            <a:lvl1pPr>
              <a:defRPr sz="5995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01" y="4589917"/>
            <a:ext cx="10516238" cy="1500335"/>
          </a:xfrm>
        </p:spPr>
        <p:txBody>
          <a:bodyPr/>
          <a:lstStyle>
            <a:lvl1pPr marL="0" indent="0">
              <a:buNone/>
              <a:defRPr sz="2400"/>
            </a:lvl1pPr>
            <a:lvl2pPr marL="456565" indent="0">
              <a:buNone/>
              <a:defRPr sz="1995"/>
            </a:lvl2pPr>
            <a:lvl3pPr marL="915035" indent="0">
              <a:buNone/>
              <a:defRPr sz="1800"/>
            </a:lvl3pPr>
            <a:lvl4pPr marL="1371600" indent="0">
              <a:buNone/>
              <a:defRPr sz="1605"/>
            </a:lvl4pPr>
            <a:lvl5pPr marL="1828800" indent="0">
              <a:buNone/>
              <a:defRPr sz="1605"/>
            </a:lvl5pPr>
            <a:lvl6pPr marL="2286000" indent="0">
              <a:buNone/>
              <a:defRPr sz="1605"/>
            </a:lvl6pPr>
            <a:lvl7pPr marL="2743835" indent="0">
              <a:buNone/>
              <a:defRPr sz="1605"/>
            </a:lvl7pPr>
            <a:lvl8pPr marL="3200400" indent="0">
              <a:buNone/>
              <a:defRPr sz="1605"/>
            </a:lvl8pPr>
            <a:lvl9pPr marL="3657600" indent="0">
              <a:buNone/>
              <a:defRPr sz="1605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2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831850" y="6419850"/>
            <a:ext cx="2305050" cy="3016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37" y="1600358"/>
            <a:ext cx="5385127" cy="452641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976" y="1600358"/>
            <a:ext cx="5385127" cy="452641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68" y="365161"/>
            <a:ext cx="10516238" cy="1325694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68" y="1681329"/>
            <a:ext cx="5158629" cy="8239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565" indent="0">
              <a:buNone/>
              <a:defRPr sz="1995" b="1"/>
            </a:lvl2pPr>
            <a:lvl3pPr marL="915035" indent="0">
              <a:buNone/>
              <a:defRPr sz="1800" b="1"/>
            </a:lvl3pPr>
            <a:lvl4pPr marL="1371600" indent="0">
              <a:buNone/>
              <a:defRPr sz="1605" b="1"/>
            </a:lvl4pPr>
            <a:lvl5pPr marL="1828800" indent="0">
              <a:buNone/>
              <a:defRPr sz="1605" b="1"/>
            </a:lvl5pPr>
            <a:lvl6pPr marL="2286000" indent="0">
              <a:buNone/>
              <a:defRPr sz="1605" b="1"/>
            </a:lvl6pPr>
            <a:lvl7pPr marL="2743835" indent="0">
              <a:buNone/>
              <a:defRPr sz="1605" b="1"/>
            </a:lvl7pPr>
            <a:lvl8pPr marL="3200400" indent="0">
              <a:buNone/>
              <a:defRPr sz="1605" b="1"/>
            </a:lvl8pPr>
            <a:lvl9pPr marL="3657600" indent="0">
              <a:buNone/>
              <a:defRPr sz="1605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68" y="2505323"/>
            <a:ext cx="5158629" cy="368495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575" y="1681329"/>
            <a:ext cx="5184032" cy="8239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565" indent="0">
              <a:buNone/>
              <a:defRPr sz="1995" b="1"/>
            </a:lvl2pPr>
            <a:lvl3pPr marL="915035" indent="0">
              <a:buNone/>
              <a:defRPr sz="1800" b="1"/>
            </a:lvl3pPr>
            <a:lvl4pPr marL="1371600" indent="0">
              <a:buNone/>
              <a:defRPr sz="1605" b="1"/>
            </a:lvl4pPr>
            <a:lvl5pPr marL="1828800" indent="0">
              <a:buNone/>
              <a:defRPr sz="1605" b="1"/>
            </a:lvl5pPr>
            <a:lvl6pPr marL="2286000" indent="0">
              <a:buNone/>
              <a:defRPr sz="1605" b="1"/>
            </a:lvl6pPr>
            <a:lvl7pPr marL="2743835" indent="0">
              <a:buNone/>
              <a:defRPr sz="1605" b="1"/>
            </a:lvl7pPr>
            <a:lvl8pPr marL="3200400" indent="0">
              <a:buNone/>
              <a:defRPr sz="1605" b="1"/>
            </a:lvl8pPr>
            <a:lvl9pPr marL="3657600" indent="0">
              <a:buNone/>
              <a:defRPr sz="1605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575" y="2505323"/>
            <a:ext cx="5184032" cy="368495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68" y="457245"/>
            <a:ext cx="3933005" cy="1600358"/>
          </a:xfrm>
        </p:spPr>
        <p:txBody>
          <a:bodyPr anchor="b"/>
          <a:lstStyle>
            <a:lvl1pPr>
              <a:defRPr sz="3205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4032" y="987523"/>
            <a:ext cx="6172575" cy="4874107"/>
          </a:xfrm>
        </p:spPr>
        <p:txBody>
          <a:bodyPr/>
          <a:lstStyle>
            <a:lvl1pPr>
              <a:defRPr sz="3205"/>
            </a:lvl1pPr>
            <a:lvl2pPr>
              <a:defRPr sz="2800"/>
            </a:lvl2pPr>
            <a:lvl3pPr>
              <a:defRPr sz="2400"/>
            </a:lvl3pPr>
            <a:lvl4pPr>
              <a:defRPr sz="1995"/>
            </a:lvl4pPr>
            <a:lvl5pPr>
              <a:defRPr sz="1995"/>
            </a:lvl5pPr>
            <a:lvl6pPr>
              <a:defRPr sz="1995"/>
            </a:lvl6pPr>
            <a:lvl7pPr>
              <a:defRPr sz="1995"/>
            </a:lvl7pPr>
            <a:lvl8pPr>
              <a:defRPr sz="1995"/>
            </a:lvl8pPr>
            <a:lvl9pPr>
              <a:defRPr sz="1995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68" y="2057603"/>
            <a:ext cx="3933005" cy="3811965"/>
          </a:xfrm>
        </p:spPr>
        <p:txBody>
          <a:bodyPr/>
          <a:lstStyle>
            <a:lvl1pPr marL="0" indent="0">
              <a:buNone/>
              <a:defRPr sz="1605"/>
            </a:lvl1pPr>
            <a:lvl2pPr marL="456565" indent="0">
              <a:buNone/>
              <a:defRPr sz="1395"/>
            </a:lvl2pPr>
            <a:lvl3pPr marL="915035" indent="0">
              <a:buNone/>
              <a:defRPr sz="1200"/>
            </a:lvl3pPr>
            <a:lvl4pPr marL="1371600" indent="0">
              <a:buNone/>
              <a:defRPr sz="1005"/>
            </a:lvl4pPr>
            <a:lvl5pPr marL="1828800" indent="0">
              <a:buNone/>
              <a:defRPr sz="1005"/>
            </a:lvl5pPr>
            <a:lvl6pPr marL="2286000" indent="0">
              <a:buNone/>
              <a:defRPr sz="1005"/>
            </a:lvl6pPr>
            <a:lvl7pPr marL="2743835" indent="0">
              <a:buNone/>
              <a:defRPr sz="1005"/>
            </a:lvl7pPr>
            <a:lvl8pPr marL="3200400" indent="0">
              <a:buNone/>
              <a:defRPr sz="1005"/>
            </a:lvl8pPr>
            <a:lvl9pPr marL="3657600" indent="0">
              <a:buNone/>
              <a:defRPr sz="1005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68" y="457245"/>
            <a:ext cx="3933005" cy="1600358"/>
          </a:xfrm>
        </p:spPr>
        <p:txBody>
          <a:bodyPr anchor="b"/>
          <a:lstStyle>
            <a:lvl1pPr>
              <a:defRPr sz="3205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4032" y="987523"/>
            <a:ext cx="6172575" cy="4874107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5"/>
            </a:lvl1pPr>
            <a:lvl2pPr marL="456565" indent="0">
              <a:buNone/>
              <a:defRPr sz="2800"/>
            </a:lvl2pPr>
            <a:lvl3pPr marL="915035" indent="0">
              <a:buNone/>
              <a:defRPr sz="2400"/>
            </a:lvl3pPr>
            <a:lvl4pPr marL="1371600" indent="0">
              <a:buNone/>
              <a:defRPr sz="1995"/>
            </a:lvl4pPr>
            <a:lvl5pPr marL="1828800" indent="0">
              <a:buNone/>
              <a:defRPr sz="1995"/>
            </a:lvl5pPr>
            <a:lvl6pPr marL="2286000" indent="0">
              <a:buNone/>
              <a:defRPr sz="1995"/>
            </a:lvl6pPr>
            <a:lvl7pPr marL="2743835" indent="0">
              <a:buNone/>
              <a:defRPr sz="1995"/>
            </a:lvl7pPr>
            <a:lvl8pPr marL="3200400" indent="0">
              <a:buNone/>
              <a:defRPr sz="1995"/>
            </a:lvl8pPr>
            <a:lvl9pPr marL="3657600" indent="0">
              <a:buNone/>
              <a:defRPr sz="1995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68" y="2057603"/>
            <a:ext cx="3933005" cy="3811965"/>
          </a:xfrm>
        </p:spPr>
        <p:txBody>
          <a:bodyPr/>
          <a:lstStyle>
            <a:lvl1pPr marL="0" indent="0">
              <a:buNone/>
              <a:defRPr sz="1605"/>
            </a:lvl1pPr>
            <a:lvl2pPr marL="456565" indent="0">
              <a:buNone/>
              <a:defRPr sz="1395"/>
            </a:lvl2pPr>
            <a:lvl3pPr marL="915035" indent="0">
              <a:buNone/>
              <a:defRPr sz="1200"/>
            </a:lvl3pPr>
            <a:lvl4pPr marL="1371600" indent="0">
              <a:buNone/>
              <a:defRPr sz="1005"/>
            </a:lvl4pPr>
            <a:lvl5pPr marL="1828800" indent="0">
              <a:buNone/>
              <a:defRPr sz="1005"/>
            </a:lvl5pPr>
            <a:lvl6pPr marL="2286000" indent="0">
              <a:buNone/>
              <a:defRPr sz="1005"/>
            </a:lvl6pPr>
            <a:lvl7pPr marL="2743835" indent="0">
              <a:buNone/>
              <a:defRPr sz="1005"/>
            </a:lvl7pPr>
            <a:lvl8pPr marL="3200400" indent="0">
              <a:buNone/>
              <a:defRPr sz="1005"/>
            </a:lvl8pPr>
            <a:lvl9pPr marL="3657600" indent="0">
              <a:buNone/>
              <a:defRPr sz="1005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736" y="274665"/>
            <a:ext cx="2743366" cy="585210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37" y="274665"/>
            <a:ext cx="8026887" cy="5852103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单击此处编辑母版标题样式</a:t>
            </a:r>
            <a:endParaRPr lang="en-US" altLang="zh-CN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单击此处编辑母版文本样式</a:t>
            </a:r>
            <a:endParaRPr lang="en-US" altLang="zh-CN" dirty="0"/>
          </a:p>
          <a:p>
            <a:pPr lvl="1"/>
            <a:r>
              <a:rPr lang="en-US" altLang="zh-CN" dirty="0"/>
              <a:t>第二级</a:t>
            </a:r>
            <a:endParaRPr lang="en-US" altLang="zh-CN" dirty="0"/>
          </a:p>
          <a:p>
            <a:pPr lvl="2"/>
            <a:r>
              <a:rPr lang="en-US" altLang="zh-CN" dirty="0"/>
              <a:t>第三级</a:t>
            </a:r>
            <a:endParaRPr lang="en-US" altLang="zh-CN" dirty="0"/>
          </a:p>
          <a:p>
            <a:pPr lvl="3"/>
            <a:r>
              <a:rPr lang="en-US" altLang="zh-CN" dirty="0"/>
              <a:t>第四级</a:t>
            </a:r>
            <a:endParaRPr lang="en-US" altLang="zh-CN" dirty="0"/>
          </a:p>
          <a:p>
            <a:pPr lvl="4"/>
            <a:r>
              <a:rPr lang="en-US" altLang="zh-CN" dirty="0"/>
              <a:t>第五级</a:t>
            </a:r>
            <a:endParaRPr lang="en-US" altLang="zh-CN" dirty="0"/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031" name="图片 3" descr="66-0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795000" y="63500"/>
            <a:ext cx="1249363" cy="10699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235" indent="-228600" algn="l" defTabSz="91503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503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503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503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5035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tags" Target="../tags/tag1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3" Type="http://schemas.openxmlformats.org/officeDocument/2006/relationships/tags" Target="../tags/tag2.xml"/><Relationship Id="rId2" Type="http://schemas.openxmlformats.org/officeDocument/2006/relationships/image" Target="../media/image6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5.png"/><Relationship Id="rId3" Type="http://schemas.openxmlformats.org/officeDocument/2006/relationships/tags" Target="../tags/tag3.xml"/><Relationship Id="rId2" Type="http://schemas.openxmlformats.org/officeDocument/2006/relationships/image" Target="../media/image6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5.png"/><Relationship Id="rId3" Type="http://schemas.openxmlformats.org/officeDocument/2006/relationships/tags" Target="../tags/tag4.xml"/><Relationship Id="rId2" Type="http://schemas.openxmlformats.org/officeDocument/2006/relationships/image" Target="../media/image6.pn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5.png"/><Relationship Id="rId3" Type="http://schemas.openxmlformats.org/officeDocument/2006/relationships/tags" Target="../tags/tag5.xml"/><Relationship Id="rId2" Type="http://schemas.openxmlformats.org/officeDocument/2006/relationships/image" Target="../media/image6.pn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218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43840"/>
            <a:ext cx="12357100" cy="6964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2"/>
          <p:cNvSpPr txBox="1"/>
          <p:nvPr>
            <p:custDataLst>
              <p:tags r:id="rId2"/>
            </p:custDataLst>
          </p:nvPr>
        </p:nvSpPr>
        <p:spPr>
          <a:xfrm>
            <a:off x="1741170" y="1353185"/>
            <a:ext cx="9161145" cy="84582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FF00"/>
                </a:solidFill>
                <a:latin typeface="思源黑体 CN Light" pitchFamily="34" charset="-122"/>
                <a:ea typeface="思源黑体 CN Light" pitchFamily="34" charset="-122"/>
              </a:rPr>
              <a:t>当</a:t>
            </a:r>
            <a:r>
              <a:rPr lang="zh-CN" altLang="en-US" b="1" dirty="0">
                <a:solidFill>
                  <a:srgbClr val="FFFF00"/>
                </a:solidFill>
                <a:latin typeface="思源黑体 CN Light" pitchFamily="34" charset="-122"/>
                <a:ea typeface="思源黑体 CN Light" pitchFamily="34" charset="-122"/>
              </a:rPr>
              <a:t>大厂面试官问你项目中分布式事务是如何实现的？你还在马上回答：</a:t>
            </a:r>
            <a:r>
              <a:rPr lang="en-US" altLang="zh-CN" b="1" dirty="0">
                <a:solidFill>
                  <a:srgbClr val="FFFF00"/>
                </a:solidFill>
                <a:latin typeface="思源黑体 CN Light" pitchFamily="34" charset="-122"/>
                <a:ea typeface="思源黑体 CN Light" pitchFamily="34" charset="-122"/>
              </a:rPr>
              <a:t>MQ</a:t>
            </a:r>
            <a:r>
              <a:rPr lang="zh-CN" altLang="en-US" b="1" dirty="0">
                <a:solidFill>
                  <a:srgbClr val="FFFF00"/>
                </a:solidFill>
                <a:latin typeface="思源黑体 CN Light" pitchFamily="34" charset="-122"/>
                <a:ea typeface="思源黑体 CN Light" pitchFamily="34" charset="-122"/>
              </a:rPr>
              <a:t>、</a:t>
            </a:r>
            <a:r>
              <a:rPr lang="en-US" altLang="zh-CN" b="1" dirty="0">
                <a:solidFill>
                  <a:srgbClr val="FFFF00"/>
                </a:solidFill>
                <a:latin typeface="思源黑体 CN Light" pitchFamily="34" charset="-122"/>
                <a:ea typeface="思源黑体 CN Light" pitchFamily="34" charset="-122"/>
              </a:rPr>
              <a:t>seata</a:t>
            </a:r>
            <a:r>
              <a:rPr lang="zh-CN" altLang="en-US" b="1" dirty="0">
                <a:solidFill>
                  <a:srgbClr val="FFFF00"/>
                </a:solidFill>
                <a:latin typeface="思源黑体 CN Light" pitchFamily="34" charset="-122"/>
                <a:ea typeface="思源黑体 CN Light" pitchFamily="34" charset="-122"/>
              </a:rPr>
              <a:t>吗？</a:t>
            </a:r>
            <a:endParaRPr lang="zh-CN" altLang="en-US" b="1" dirty="0">
              <a:solidFill>
                <a:srgbClr val="FFFF00"/>
              </a:solidFill>
              <a:latin typeface="思源黑体 CN Light" pitchFamily="34" charset="-122"/>
              <a:ea typeface="思源黑体 CN Light" pitchFamily="34" charset="-122"/>
            </a:endParaRPr>
          </a:p>
          <a:p>
            <a:pPr marL="0" lvl="0" indent="0" algn="ctr">
              <a:spcBef>
                <a:spcPct val="0"/>
              </a:spcBef>
              <a:buFontTx/>
              <a:buNone/>
            </a:pPr>
            <a:endParaRPr lang="zh-CN" altLang="en-US" b="1" dirty="0">
              <a:solidFill>
                <a:schemeClr val="bg1"/>
              </a:solidFill>
              <a:latin typeface="思源黑体 CN Light" pitchFamily="34" charset="-122"/>
              <a:ea typeface="思源黑体 CN Light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691245" y="3438525"/>
            <a:ext cx="487045" cy="13036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sz="2000">
                <a:solidFill>
                  <a:schemeClr val="bg2">
                    <a:lumMod val="75000"/>
                  </a:schemeClr>
                </a:solidFill>
              </a:rPr>
              <a:t>图灵小毅</a:t>
            </a:r>
            <a:endParaRPr lang="zh-CN" sz="200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3"/>
          <a:stretch>
            <a:fillRect/>
          </a:stretch>
        </p:blipFill>
        <p:spPr>
          <a:xfrm>
            <a:off x="10344150" y="71755"/>
            <a:ext cx="1748790" cy="5562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3183255" y="3284855"/>
            <a:ext cx="5528310" cy="7410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chemeClr val="bg2">
                    <a:lumMod val="75000"/>
                  </a:schemeClr>
                </a:solidFill>
              </a:rPr>
              <a:t>   </a:t>
            </a:r>
            <a:r>
              <a:rPr lang="zh-CN" altLang="en-US" sz="2400" b="1">
                <a:solidFill>
                  <a:schemeClr val="bg2">
                    <a:lumMod val="75000"/>
                  </a:schemeClr>
                </a:solidFill>
              </a:rPr>
              <a:t>天下风云出我辈，一入代码岁月催</a:t>
            </a:r>
            <a:endParaRPr lang="zh-CN" altLang="en-US" sz="2400" b="1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19830" y="4239895"/>
            <a:ext cx="3924300" cy="5156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2400" b="1">
                <a:solidFill>
                  <a:schemeClr val="bg2">
                    <a:lumMod val="75000"/>
                  </a:schemeClr>
                </a:solidFill>
              </a:rPr>
              <a:t>      </a:t>
            </a:r>
            <a:r>
              <a:rPr lang="zh-CN" altLang="en-US" sz="2400" b="1">
                <a:solidFill>
                  <a:schemeClr val="bg2">
                    <a:lumMod val="75000"/>
                  </a:schemeClr>
                </a:solidFill>
              </a:rPr>
              <a:t>《将干货进行到底》</a:t>
            </a:r>
            <a:r>
              <a:rPr lang="en-US" altLang="zh-CN" sz="2400" b="1">
                <a:solidFill>
                  <a:schemeClr val="bg2">
                    <a:lumMod val="75000"/>
                  </a:schemeClr>
                </a:solidFill>
              </a:rPr>
              <a:t>   </a:t>
            </a:r>
            <a:endParaRPr lang="zh-CN" altLang="en-US" sz="1400" b="1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218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4765" y="45085"/>
            <a:ext cx="12357100" cy="6964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0" name="object 4"/>
          <p:cNvSpPr/>
          <p:nvPr/>
        </p:nvSpPr>
        <p:spPr>
          <a:xfrm>
            <a:off x="0" y="188595"/>
            <a:ext cx="4177030" cy="44640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endParaRPr lang="zh-CN" altLang="zh-CN" sz="1800" dirty="0">
              <a:latin typeface="Arial" panose="020B0604020202020204" pitchFamily="34" charset="0"/>
            </a:endParaRPr>
          </a:p>
        </p:txBody>
      </p:sp>
      <p:sp>
        <p:nvSpPr>
          <p:cNvPr id="2" name="文本框 2"/>
          <p:cNvSpPr txBox="1"/>
          <p:nvPr>
            <p:custDataLst>
              <p:tags r:id="rId3"/>
            </p:custDataLst>
          </p:nvPr>
        </p:nvSpPr>
        <p:spPr>
          <a:xfrm>
            <a:off x="-71755" y="188595"/>
            <a:ext cx="4665980" cy="45974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思源黑体 CN Light" pitchFamily="34" charset="-122"/>
                <a:ea typeface="思源黑体 CN Light" pitchFamily="34" charset="-122"/>
              </a:rPr>
              <a:t>不要在项目中使用分布式事务中间件</a:t>
            </a:r>
            <a:endParaRPr lang="zh-CN" altLang="en-US" sz="2000" b="1" dirty="0">
              <a:solidFill>
                <a:schemeClr val="bg1"/>
              </a:solidFill>
              <a:latin typeface="思源黑体 CN Light" pitchFamily="34" charset="-122"/>
              <a:ea typeface="思源黑体 CN Light" pitchFamily="34" charset="-122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4"/>
          <a:stretch>
            <a:fillRect/>
          </a:stretch>
        </p:blipFill>
        <p:spPr>
          <a:xfrm>
            <a:off x="10344785" y="78740"/>
            <a:ext cx="1748790" cy="5562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991360" y="725170"/>
            <a:ext cx="7941310" cy="989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问题来源</a:t>
            </a:r>
            <a:r>
              <a:rPr lang="en-US" altLang="zh-CN">
                <a:solidFill>
                  <a:schemeClr val="bg1"/>
                </a:solidFill>
              </a:rPr>
              <a:t>: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-  Seata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分TC、TM和RM三个角色，TC（Server端）为单独服务端部署，TM和RM（Client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端）由业务；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1. TM 请求 TC 开启一个全局事务。TC 会生成一个 XID 作为该全局事务的编号。XID会在微服务的调用链路中传播，保证将多个微服务的子事务关联在一起。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2. RM 请求 TC 将本地事务注册为全局事务的分支事务，通过全局事务的 XID 进行关。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3. TM 请求 TC 告诉 XID 对应的全局事务是进行提交还是回滚。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4. TC 驱动 RM 们将 XID 对应的自己的本地事务进行提交还是回滚。</a:t>
            </a:r>
            <a:endParaRPr lang="zh-CN" altLang="en-US" sz="1400">
              <a:solidFill>
                <a:schemeClr val="bg1"/>
              </a:solidFill>
            </a:endParaRPr>
          </a:p>
          <a:p>
            <a:endParaRPr lang="zh-CN" altLang="en-US" sz="140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5505" y="2708910"/>
            <a:ext cx="6453505" cy="38690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218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6840"/>
            <a:ext cx="12357100" cy="6964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0" name="object 4"/>
          <p:cNvSpPr/>
          <p:nvPr/>
        </p:nvSpPr>
        <p:spPr>
          <a:xfrm>
            <a:off x="0" y="188595"/>
            <a:ext cx="4177030" cy="44640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endParaRPr lang="zh-CN" altLang="zh-CN" sz="1800" dirty="0">
              <a:latin typeface="Arial" panose="020B0604020202020204" pitchFamily="34" charset="0"/>
            </a:endParaRPr>
          </a:p>
        </p:txBody>
      </p:sp>
      <p:sp>
        <p:nvSpPr>
          <p:cNvPr id="2" name="文本框 2"/>
          <p:cNvSpPr txBox="1"/>
          <p:nvPr>
            <p:custDataLst>
              <p:tags r:id="rId3"/>
            </p:custDataLst>
          </p:nvPr>
        </p:nvSpPr>
        <p:spPr>
          <a:xfrm>
            <a:off x="-71755" y="188595"/>
            <a:ext cx="4665980" cy="45974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思源黑体 CN Light" pitchFamily="34" charset="-122"/>
                <a:ea typeface="思源黑体 CN Light" pitchFamily="34" charset="-122"/>
              </a:rPr>
              <a:t>不要在项目中使用分布式事务中间件</a:t>
            </a:r>
            <a:endParaRPr lang="zh-CN" altLang="en-US" sz="2000" b="1" dirty="0">
              <a:solidFill>
                <a:schemeClr val="bg1"/>
              </a:solidFill>
              <a:latin typeface="思源黑体 CN Light" pitchFamily="34" charset="-122"/>
              <a:ea typeface="思源黑体 CN Light" pitchFamily="34" charset="-122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4"/>
          <a:stretch>
            <a:fillRect/>
          </a:stretch>
        </p:blipFill>
        <p:spPr>
          <a:xfrm>
            <a:off x="10344785" y="78740"/>
            <a:ext cx="1748790" cy="5562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537335" y="745490"/>
            <a:ext cx="7964805" cy="969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问题来源</a:t>
            </a:r>
            <a:r>
              <a:rPr lang="en-US" altLang="zh-CN">
                <a:solidFill>
                  <a:schemeClr val="bg1"/>
                </a:solidFill>
              </a:rPr>
              <a:t>: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- 引入分布式事务中间件会造成系统大规模耦合的</a:t>
            </a:r>
            <a:r>
              <a:rPr lang="zh-CN" altLang="en-US">
                <a:solidFill>
                  <a:schemeClr val="bg1"/>
                </a:solidFill>
              </a:rPr>
              <a:t>情况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  <a:sym typeface="+mn-ea"/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60830" y="1937385"/>
            <a:ext cx="3442970" cy="839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-</a:t>
            </a:r>
            <a:r>
              <a:rPr lang="zh-CN" altLang="en-US">
                <a:solidFill>
                  <a:schemeClr val="bg1"/>
                </a:solidFill>
              </a:rPr>
              <a:t>把基础设施（</a:t>
            </a:r>
            <a:r>
              <a:rPr lang="en-US" altLang="zh-CN">
                <a:solidFill>
                  <a:schemeClr val="bg1"/>
                </a:solidFill>
              </a:rPr>
              <a:t>seata  TC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r>
              <a:rPr lang="zh-CN" altLang="en-US">
                <a:solidFill>
                  <a:schemeClr val="bg1"/>
                </a:solidFill>
              </a:rPr>
              <a:t>暴露在微服务网关</a:t>
            </a:r>
            <a:r>
              <a:rPr lang="zh-CN" altLang="en-US">
                <a:solidFill>
                  <a:schemeClr val="bg1"/>
                </a:solidFill>
              </a:rPr>
              <a:t>上，出现安全与权限设计上</a:t>
            </a:r>
            <a:r>
              <a:rPr lang="zh-CN" altLang="en-US">
                <a:solidFill>
                  <a:schemeClr val="bg1"/>
                </a:solidFill>
              </a:rPr>
              <a:t>问题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-</a:t>
            </a:r>
            <a:r>
              <a:rPr lang="zh-CN" altLang="en-US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用不好（</a:t>
            </a:r>
            <a:r>
              <a:rPr lang="en-US" altLang="zh-CN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AT</a:t>
            </a:r>
            <a:r>
              <a:rPr lang="zh-CN" altLang="en-US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、</a:t>
            </a:r>
            <a:r>
              <a:rPr lang="en-US" altLang="zh-CN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TCC</a:t>
            </a:r>
            <a:r>
              <a:rPr lang="zh-CN" altLang="en-US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、</a:t>
            </a:r>
            <a:r>
              <a:rPr lang="en-US" altLang="zh-CN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Saga</a:t>
            </a:r>
            <a:r>
              <a:rPr lang="zh-CN" altLang="en-US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、</a:t>
            </a:r>
            <a:r>
              <a:rPr lang="en-US" altLang="zh-CN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XA</a:t>
            </a:r>
            <a:r>
              <a:rPr lang="zh-CN" altLang="en-US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）就是超低执行效率，同时也提高了工程师应用门槛</a:t>
            </a:r>
            <a:endParaRPr lang="zh-CN" altLang="en-US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3845" y="1631315"/>
            <a:ext cx="6521450" cy="4349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218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68910" y="-99060"/>
            <a:ext cx="12357100" cy="6964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0" name="object 4"/>
          <p:cNvSpPr/>
          <p:nvPr/>
        </p:nvSpPr>
        <p:spPr>
          <a:xfrm>
            <a:off x="0" y="188595"/>
            <a:ext cx="4501515" cy="68135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endParaRPr lang="zh-CN" altLang="zh-CN" sz="1800" dirty="0">
              <a:latin typeface="Arial" panose="020B0604020202020204" pitchFamily="34" charset="0"/>
            </a:endParaRPr>
          </a:p>
        </p:txBody>
      </p:sp>
      <p:sp>
        <p:nvSpPr>
          <p:cNvPr id="2" name="文本框 2"/>
          <p:cNvSpPr txBox="1"/>
          <p:nvPr>
            <p:custDataLst>
              <p:tags r:id="rId3"/>
            </p:custDataLst>
          </p:nvPr>
        </p:nvSpPr>
        <p:spPr>
          <a:xfrm>
            <a:off x="0" y="188595"/>
            <a:ext cx="4500880" cy="68199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sz="2000" b="1" dirty="0">
                <a:solidFill>
                  <a:schemeClr val="bg1"/>
                </a:solidFill>
                <a:latin typeface="思源黑体 CN Light" pitchFamily="34" charset="-122"/>
                <a:ea typeface="思源黑体 CN Light" pitchFamily="34" charset="-122"/>
              </a:rPr>
              <a:t>解决</a:t>
            </a:r>
            <a:r>
              <a:rPr lang="zh-CN" sz="2000" b="1" dirty="0">
                <a:solidFill>
                  <a:schemeClr val="bg1"/>
                </a:solidFill>
                <a:latin typeface="思源黑体 CN Light" pitchFamily="34" charset="-122"/>
                <a:ea typeface="思源黑体 CN Light" pitchFamily="34" charset="-122"/>
              </a:rPr>
              <a:t>方案</a:t>
            </a:r>
            <a:endParaRPr lang="zh-CN" sz="2000" b="1" dirty="0">
              <a:solidFill>
                <a:schemeClr val="bg1"/>
              </a:solidFill>
              <a:latin typeface="思源黑体 CN Light" pitchFamily="34" charset="-122"/>
              <a:ea typeface="思源黑体 CN Light" pitchFamily="34" charset="-122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4"/>
          <a:stretch>
            <a:fillRect/>
          </a:stretch>
        </p:blipFill>
        <p:spPr>
          <a:xfrm>
            <a:off x="10344785" y="78740"/>
            <a:ext cx="1748790" cy="5562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>
            <a:off x="335280" y="1412240"/>
            <a:ext cx="7198995" cy="4324350"/>
          </a:xfrm>
          <a:prstGeom prst="rect">
            <a:avLst/>
          </a:prstGeom>
        </p:spPr>
        <p:txBody>
          <a:bodyPr>
            <a:noAutofit/>
          </a:bodyPr>
          <a:p>
            <a:pPr marL="45847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1135" y="1172845"/>
            <a:ext cx="4857750" cy="2882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业务</a:t>
            </a:r>
            <a:r>
              <a:rPr lang="zh-CN" altLang="en-US">
                <a:solidFill>
                  <a:schemeClr val="bg1"/>
                </a:solidFill>
              </a:rPr>
              <a:t>角度：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同步阻塞：库存扣减没有执行完不</a:t>
            </a:r>
            <a:r>
              <a:rPr lang="zh-CN" altLang="en-US">
                <a:solidFill>
                  <a:schemeClr val="bg1"/>
                </a:solidFill>
              </a:rPr>
              <a:t>返回，库存扣减失败返回异常给商城应用（</a:t>
            </a:r>
            <a:r>
              <a:rPr lang="en-US" altLang="zh-CN">
                <a:solidFill>
                  <a:schemeClr val="bg1"/>
                </a:solidFill>
              </a:rPr>
              <a:t>CP </a:t>
            </a:r>
            <a:r>
              <a:rPr lang="zh-CN" altLang="en-US">
                <a:solidFill>
                  <a:schemeClr val="bg1"/>
                </a:solidFill>
              </a:rPr>
              <a:t>强</a:t>
            </a:r>
            <a:r>
              <a:rPr lang="zh-CN" altLang="en-US">
                <a:solidFill>
                  <a:schemeClr val="bg1"/>
                </a:solidFill>
              </a:rPr>
              <a:t>一致性）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异步调用：订单服务异步库存服务，订单服务每</a:t>
            </a:r>
            <a:r>
              <a:rPr lang="en-US" altLang="zh-CN">
                <a:solidFill>
                  <a:schemeClr val="bg1"/>
                </a:solidFill>
              </a:rPr>
              <a:t>n</a:t>
            </a:r>
            <a:r>
              <a:rPr lang="zh-CN" altLang="en-US">
                <a:solidFill>
                  <a:schemeClr val="bg1"/>
                </a:solidFill>
              </a:rPr>
              <a:t>秒调用库存服务</a:t>
            </a:r>
            <a:r>
              <a:rPr lang="en-US" altLang="zh-CN">
                <a:solidFill>
                  <a:schemeClr val="bg1"/>
                </a:solidFill>
              </a:rPr>
              <a:t>“</a:t>
            </a:r>
            <a:r>
              <a:rPr lang="zh-CN" altLang="en-US">
                <a:solidFill>
                  <a:schemeClr val="bg1"/>
                </a:solidFill>
              </a:rPr>
              <a:t>出库查询</a:t>
            </a:r>
            <a:r>
              <a:rPr lang="en-US" altLang="zh-CN">
                <a:solidFill>
                  <a:schemeClr val="bg1"/>
                </a:solidFill>
              </a:rPr>
              <a:t>” </a:t>
            </a:r>
            <a:r>
              <a:rPr lang="zh-CN" altLang="en-US">
                <a:solidFill>
                  <a:schemeClr val="bg1"/>
                </a:solidFill>
              </a:rPr>
              <a:t>接口确认订单出库，状态。（</a:t>
            </a:r>
            <a:r>
              <a:rPr lang="en-US" altLang="zh-CN">
                <a:solidFill>
                  <a:schemeClr val="bg1"/>
                </a:solidFill>
              </a:rPr>
              <a:t>AP</a:t>
            </a:r>
            <a:r>
              <a:rPr lang="zh-CN" altLang="en-US">
                <a:solidFill>
                  <a:schemeClr val="bg1"/>
                </a:solidFill>
              </a:rPr>
              <a:t>最终</a:t>
            </a:r>
            <a:r>
              <a:rPr lang="zh-CN" altLang="en-US">
                <a:solidFill>
                  <a:schemeClr val="bg1"/>
                </a:solidFill>
              </a:rPr>
              <a:t>一致性）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-</a:t>
            </a:r>
            <a:r>
              <a:rPr lang="zh-CN" altLang="en-US">
                <a:solidFill>
                  <a:schemeClr val="bg1"/>
                </a:solidFill>
              </a:rPr>
              <a:t>出库</a:t>
            </a:r>
            <a:r>
              <a:rPr lang="zh-CN" altLang="en-US">
                <a:solidFill>
                  <a:schemeClr val="bg1"/>
                </a:solidFill>
              </a:rPr>
              <a:t>成功：</a:t>
            </a:r>
            <a:endParaRPr lang="zh-CN" altLang="en-US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zh-CN" altLang="en-US">
                <a:solidFill>
                  <a:schemeClr val="bg1"/>
                </a:solidFill>
              </a:rPr>
              <a:t>订单完成，业务</a:t>
            </a:r>
            <a:r>
              <a:rPr lang="zh-CN" altLang="en-US">
                <a:solidFill>
                  <a:schemeClr val="bg1"/>
                </a:solidFill>
              </a:rPr>
              <a:t>结束</a:t>
            </a:r>
            <a:endParaRPr lang="zh-CN" altLang="en-US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en-US" altLang="zh-CN">
                <a:solidFill>
                  <a:schemeClr val="bg1"/>
                </a:solidFill>
              </a:rPr>
              <a:t>-</a:t>
            </a:r>
            <a:r>
              <a:rPr lang="zh-CN" altLang="en-US">
                <a:solidFill>
                  <a:schemeClr val="bg1"/>
                </a:solidFill>
              </a:rPr>
              <a:t>出库</a:t>
            </a:r>
            <a:r>
              <a:rPr lang="zh-CN" altLang="en-US">
                <a:solidFill>
                  <a:schemeClr val="bg1"/>
                </a:solidFill>
              </a:rPr>
              <a:t>失败：</a:t>
            </a:r>
            <a:endParaRPr lang="zh-CN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</a:rPr>
              <a:t>因为技术问题出库失败：尝试</a:t>
            </a:r>
            <a:r>
              <a:rPr lang="zh-CN" altLang="en-US">
                <a:solidFill>
                  <a:schemeClr val="bg1"/>
                </a:solidFill>
              </a:rPr>
              <a:t>补偿</a:t>
            </a:r>
            <a:endParaRPr lang="zh-CN" alt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</a:rPr>
              <a:t>因为业务问题出库失败（比如库存不足）：撤销订单，短信通知用户、补偿</a:t>
            </a:r>
            <a:r>
              <a:rPr lang="zh-CN" altLang="en-US">
                <a:solidFill>
                  <a:schemeClr val="bg1"/>
                </a:solidFill>
              </a:rPr>
              <a:t>用户</a:t>
            </a:r>
            <a:endParaRPr lang="zh-CN" altLang="en-US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</a:pPr>
            <a:endParaRPr lang="zh-CN" altLang="en-US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</a:pP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1130" y="908685"/>
            <a:ext cx="6330950" cy="3492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218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6520" y="-99060"/>
            <a:ext cx="12357100" cy="6964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0" name="object 4"/>
          <p:cNvSpPr/>
          <p:nvPr/>
        </p:nvSpPr>
        <p:spPr>
          <a:xfrm>
            <a:off x="0" y="188595"/>
            <a:ext cx="4501515" cy="68135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endParaRPr lang="zh-CN" altLang="zh-CN" sz="1800" dirty="0">
              <a:latin typeface="Arial" panose="020B0604020202020204" pitchFamily="34" charset="0"/>
            </a:endParaRPr>
          </a:p>
        </p:txBody>
      </p:sp>
      <p:sp>
        <p:nvSpPr>
          <p:cNvPr id="2" name="文本框 2"/>
          <p:cNvSpPr txBox="1"/>
          <p:nvPr>
            <p:custDataLst>
              <p:tags r:id="rId3"/>
            </p:custDataLst>
          </p:nvPr>
        </p:nvSpPr>
        <p:spPr>
          <a:xfrm>
            <a:off x="0" y="188595"/>
            <a:ext cx="4500880" cy="68199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sz="2000" b="1" dirty="0">
                <a:solidFill>
                  <a:schemeClr val="bg1"/>
                </a:solidFill>
                <a:latin typeface="思源黑体 CN Light" pitchFamily="34" charset="-122"/>
                <a:ea typeface="思源黑体 CN Light" pitchFamily="34" charset="-122"/>
              </a:rPr>
              <a:t>总结</a:t>
            </a:r>
            <a:endParaRPr lang="zh-CN" sz="2000" b="1" dirty="0">
              <a:solidFill>
                <a:schemeClr val="bg1"/>
              </a:solidFill>
              <a:latin typeface="思源黑体 CN Light" pitchFamily="34" charset="-122"/>
              <a:ea typeface="思源黑体 CN Light" pitchFamily="34" charset="-122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4"/>
          <a:stretch>
            <a:fillRect/>
          </a:stretch>
        </p:blipFill>
        <p:spPr>
          <a:xfrm>
            <a:off x="10344785" y="78740"/>
            <a:ext cx="1748790" cy="5562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>
            <a:off x="335280" y="1412240"/>
            <a:ext cx="7198995" cy="4324350"/>
          </a:xfrm>
          <a:prstGeom prst="rect">
            <a:avLst/>
          </a:prstGeom>
        </p:spPr>
        <p:txBody>
          <a:bodyPr>
            <a:noAutofit/>
          </a:bodyPr>
          <a:p>
            <a:pPr marL="45847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050" y="1539875"/>
            <a:ext cx="5484495" cy="2581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-</a:t>
            </a:r>
            <a:r>
              <a:rPr lang="zh-CN" altLang="en-US">
                <a:solidFill>
                  <a:schemeClr val="bg1"/>
                </a:solidFill>
              </a:rPr>
              <a:t>尽量避免分布式事务，初期服务粒度可以粗</a:t>
            </a:r>
            <a:r>
              <a:rPr lang="zh-CN" altLang="en-US">
                <a:solidFill>
                  <a:schemeClr val="bg1"/>
                </a:solidFill>
              </a:rPr>
              <a:t>一些。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-</a:t>
            </a:r>
            <a:r>
              <a:rPr lang="zh-CN" altLang="en-US">
                <a:solidFill>
                  <a:schemeClr val="bg1"/>
                </a:solidFill>
              </a:rPr>
              <a:t>对于异步调用，一定要做好资源的校验与锁定，极力避免业务问题</a:t>
            </a:r>
            <a:r>
              <a:rPr lang="zh-CN" altLang="en-US">
                <a:solidFill>
                  <a:schemeClr val="bg1"/>
                </a:solidFill>
              </a:rPr>
              <a:t>产生。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-</a:t>
            </a:r>
            <a:r>
              <a:rPr lang="zh-CN" altLang="en-US">
                <a:solidFill>
                  <a:schemeClr val="bg1"/>
                </a:solidFill>
              </a:rPr>
              <a:t>分布式一致性问题会随着调用曾经的增加（</a:t>
            </a:r>
            <a:r>
              <a:rPr lang="en-US" altLang="zh-CN">
                <a:solidFill>
                  <a:schemeClr val="bg1"/>
                </a:solidFill>
              </a:rPr>
              <a:t>A-&gt;B-&gt;C-&gt;D-&gt;E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难度激增，因此不建议超过</a:t>
            </a:r>
            <a:r>
              <a:rPr lang="en-US" altLang="zh-CN">
                <a:solidFill>
                  <a:schemeClr val="bg1"/>
                </a:solidFill>
              </a:rPr>
              <a:t>3</a:t>
            </a:r>
            <a:r>
              <a:rPr lang="zh-CN" altLang="en-US">
                <a:solidFill>
                  <a:schemeClr val="bg1"/>
                </a:solidFill>
              </a:rPr>
              <a:t>层调用层级，如果出现可以考虑服务聚合缩短调用链（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A-&gt;(BC)-&gt;(DE))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0055" y="1196340"/>
            <a:ext cx="6330950" cy="34925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COMMONDATA" val="eyJoZGlkIjoiYjI5MWEwOGZkYTlmNTFiMzViNDMwMjI3MmUzY2YyMjUifQ=="/>
  <p:tag name="KSO_WPP_MARK_KEY" val="030365fd-6e5b-4888-9b4c-1829d85bf976"/>
  <p:tag name="commondata" val="eyJoZGlkIjoiY2ZjZWViYTNkYjkzOWQ2ZDY2ODdiMGI2NDk5NTU1N2MifQ=="/>
</p:tagLst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814</Words>
  <Application>WPS 演示</Application>
  <PresentationFormat>宽屏</PresentationFormat>
  <Paragraphs>55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微软雅黑</vt:lpstr>
      <vt:lpstr>思源黑体 CN Medium</vt:lpstr>
      <vt:lpstr>黑体</vt:lpstr>
      <vt:lpstr>思源黑体 CN Normal</vt:lpstr>
      <vt:lpstr>思源黑体 CN Light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rogerjsliu(刘骏嵩)</dc:creator>
  <cp:lastModifiedBy>善解仁毅</cp:lastModifiedBy>
  <cp:revision>1412</cp:revision>
  <cp:lastPrinted>2016-12-15T14:51:00Z</cp:lastPrinted>
  <dcterms:created xsi:type="dcterms:W3CDTF">2014-12-23T12:00:00Z</dcterms:created>
  <dcterms:modified xsi:type="dcterms:W3CDTF">2024-04-11T12:11:05Z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579AC5A5981741779662CF828DA3BDC3</vt:lpwstr>
  </property>
</Properties>
</file>